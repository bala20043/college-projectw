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10287000" cx="18288000"/>
  <p:notesSz cx="6858000" cy="9144000"/>
  <p:embeddedFontLst>
    <p:embeddedFont>
      <p:font typeface="Roboto"/>
      <p:bold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5" name="Google Shape;105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6" name="Google Shape;106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9" name="Google Shape;109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0" name="Google Shape;120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1" name="Google Shape;121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5" name="Google Shape;135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36" name="Google Shape;136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9" name="Google Shape;139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6" name="Google Shape;146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7" name="Google Shape;147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0" name="Google Shape;150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56" name="Google Shape;156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66" name="Google Shape;166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7" name="Google Shape;167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0" name="Google Shape;170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13"/>
          <p:cNvGrpSpPr/>
          <p:nvPr/>
        </p:nvGrpSpPr>
        <p:grpSpPr>
          <a:xfrm>
            <a:off x="604350" y="1977294"/>
            <a:ext cx="17041201" cy="2497744"/>
            <a:chOff x="0" y="-9525"/>
            <a:chExt cx="22721601" cy="3330325"/>
          </a:xfrm>
        </p:grpSpPr>
        <p:sp>
          <p:nvSpPr>
            <p:cNvPr id="93" name="Google Shape;93;p13"/>
            <p:cNvSpPr/>
            <p:nvPr/>
          </p:nvSpPr>
          <p:spPr>
            <a:xfrm>
              <a:off x="0" y="0"/>
              <a:ext cx="22721601" cy="3320800"/>
            </a:xfrm>
            <a:custGeom>
              <a:rect b="b" l="l" r="r" t="t"/>
              <a:pathLst>
                <a:path extrusionOk="0" h="3320800" w="22721601">
                  <a:moveTo>
                    <a:pt x="0" y="0"/>
                  </a:moveTo>
                  <a:lnTo>
                    <a:pt x="22721601" y="0"/>
                  </a:lnTo>
                  <a:lnTo>
                    <a:pt x="22721601" y="3320800"/>
                  </a:lnTo>
                  <a:lnTo>
                    <a:pt x="0" y="3320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94" name="Google Shape;94;p13"/>
            <p:cNvSpPr txBox="1"/>
            <p:nvPr/>
          </p:nvSpPr>
          <p:spPr>
            <a:xfrm>
              <a:off x="0" y="-9525"/>
              <a:ext cx="22721600" cy="33303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0400" u="none" cap="none" strike="noStrike">
                  <a:solidFill>
                    <a:srgbClr val="073763"/>
                  </a:solidFill>
                  <a:latin typeface="Roboto"/>
                  <a:ea typeface="Roboto"/>
                  <a:cs typeface="Roboto"/>
                  <a:sym typeface="Roboto"/>
                </a:rPr>
                <a:t>AI-Powered &amp; FAQ Chatbot</a:t>
              </a:r>
              <a:endParaRPr/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582693" y="5475837"/>
            <a:ext cx="10019192" cy="4287375"/>
            <a:chOff x="-28876" y="-57150"/>
            <a:chExt cx="13358923" cy="5716500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13330047" cy="5659282"/>
            </a:xfrm>
            <a:custGeom>
              <a:rect b="b" l="l" r="r" t="t"/>
              <a:pathLst>
                <a:path extrusionOk="0" h="5659282" w="13330047">
                  <a:moveTo>
                    <a:pt x="25400" y="0"/>
                  </a:moveTo>
                  <a:lnTo>
                    <a:pt x="13304647" y="0"/>
                  </a:lnTo>
                  <a:cubicBezTo>
                    <a:pt x="13318617" y="0"/>
                    <a:pt x="13330047" y="11669"/>
                    <a:pt x="13330047" y="25930"/>
                  </a:cubicBezTo>
                  <a:lnTo>
                    <a:pt x="13330047" y="5633352"/>
                  </a:lnTo>
                  <a:cubicBezTo>
                    <a:pt x="13330047" y="5647614"/>
                    <a:pt x="13318617" y="5659282"/>
                    <a:pt x="13304647" y="5659282"/>
                  </a:cubicBezTo>
                  <a:lnTo>
                    <a:pt x="25400" y="5659282"/>
                  </a:lnTo>
                  <a:cubicBezTo>
                    <a:pt x="11430" y="5659282"/>
                    <a:pt x="0" y="5647614"/>
                    <a:pt x="0" y="5633352"/>
                  </a:cubicBezTo>
                  <a:lnTo>
                    <a:pt x="0" y="25930"/>
                  </a:lnTo>
                  <a:cubicBezTo>
                    <a:pt x="0" y="11669"/>
                    <a:pt x="11430" y="0"/>
                    <a:pt x="25400" y="0"/>
                  </a:cubicBezTo>
                  <a:moveTo>
                    <a:pt x="25400" y="51861"/>
                  </a:moveTo>
                  <a:lnTo>
                    <a:pt x="25400" y="25930"/>
                  </a:lnTo>
                  <a:lnTo>
                    <a:pt x="50800" y="25930"/>
                  </a:lnTo>
                  <a:lnTo>
                    <a:pt x="50800" y="5633352"/>
                  </a:lnTo>
                  <a:lnTo>
                    <a:pt x="25400" y="5633352"/>
                  </a:lnTo>
                  <a:lnTo>
                    <a:pt x="25400" y="5607422"/>
                  </a:lnTo>
                  <a:lnTo>
                    <a:pt x="13304647" y="5607422"/>
                  </a:lnTo>
                  <a:lnTo>
                    <a:pt x="13304647" y="5633352"/>
                  </a:lnTo>
                  <a:lnTo>
                    <a:pt x="13279247" y="5633352"/>
                  </a:lnTo>
                  <a:lnTo>
                    <a:pt x="13279247" y="25930"/>
                  </a:lnTo>
                  <a:lnTo>
                    <a:pt x="13304647" y="25930"/>
                  </a:lnTo>
                  <a:lnTo>
                    <a:pt x="13304647" y="51861"/>
                  </a:lnTo>
                  <a:lnTo>
                    <a:pt x="25400" y="51861"/>
                  </a:lnTo>
                  <a:close/>
                </a:path>
              </a:pathLst>
            </a:custGeom>
            <a:solidFill>
              <a:srgbClr val="07376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-28876" y="-57150"/>
              <a:ext cx="13329900" cy="571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Student Name: </a:t>
              </a:r>
              <a:r>
                <a:rPr lang="en-US" sz="2200">
                  <a:solidFill>
                    <a:srgbClr val="595959"/>
                  </a:solidFill>
                </a:rPr>
                <a:t>BALAMURUGAN MS       &amp; </a:t>
              </a: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Roll No: 20234108            </a:t>
              </a:r>
              <a:endParaRPr/>
            </a:p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Student Name: SIVAKUMAR K                 &amp; Roll No: </a:t>
              </a:r>
              <a:r>
                <a:rPr lang="en-US" sz="2200">
                  <a:solidFill>
                    <a:srgbClr val="595959"/>
                  </a:solidFill>
                </a:rPr>
                <a:t>2</a:t>
              </a: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0234143          </a:t>
              </a:r>
              <a:endParaRPr/>
            </a:p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Student Name: DHASARATHASAKKA     </a:t>
              </a:r>
              <a:r>
                <a:rPr lang="en-US" sz="2200">
                  <a:solidFill>
                    <a:srgbClr val="595959"/>
                  </a:solidFill>
                </a:rPr>
                <a:t>&amp; Roll No: 20234110</a:t>
              </a:r>
              <a:endParaRPr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RA VARTHI P  </a:t>
              </a:r>
              <a:endParaRPr/>
            </a:p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Student Name: SUNDARESWARAN P    </a:t>
              </a:r>
              <a:r>
                <a:rPr lang="en-US" sz="2200">
                  <a:solidFill>
                    <a:srgbClr val="595959"/>
                  </a:solidFill>
                </a:rPr>
                <a:t> </a:t>
              </a: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&amp; Roll No: 2023</a:t>
              </a:r>
              <a:r>
                <a:rPr lang="en-US" sz="2200">
                  <a:solidFill>
                    <a:srgbClr val="595959"/>
                  </a:solidFill>
                </a:rPr>
                <a:t>3350</a:t>
              </a:r>
              <a:endParaRPr/>
            </a:p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Student Name: </a:t>
              </a:r>
              <a:r>
                <a:rPr lang="en-US" sz="2200">
                  <a:solidFill>
                    <a:srgbClr val="595959"/>
                  </a:solidFill>
                </a:rPr>
                <a:t>MANOJKUMAR A             </a:t>
              </a: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&amp; Roll No: 20</a:t>
              </a:r>
              <a:r>
                <a:rPr lang="en-US" sz="2200">
                  <a:solidFill>
                    <a:srgbClr val="595959"/>
                  </a:solidFill>
                </a:rPr>
                <a:t>232131</a:t>
              </a:r>
              <a:endParaRPr/>
            </a:p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Student Name:MUTHAMIZHEZHIYAN M </a:t>
              </a:r>
              <a:r>
                <a:rPr lang="en-US" sz="2200">
                  <a:solidFill>
                    <a:srgbClr val="595959"/>
                  </a:solidFill>
                </a:rPr>
                <a:t> </a:t>
              </a: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&amp; Roll No: 20241263  </a:t>
              </a:r>
              <a:endParaRPr/>
            </a:p>
            <a:p>
              <a:pPr indent="0" lvl="0" marL="0" marR="0" rtl="0" algn="l">
                <a:lnSpc>
                  <a:spcPct val="1755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          </a:t>
              </a:r>
              <a:endParaRPr/>
            </a:p>
          </p:txBody>
        </p:sp>
      </p:grpSp>
      <p:sp>
        <p:nvSpPr>
          <p:cNvPr id="98" name="Google Shape;98;p13"/>
          <p:cNvSpPr/>
          <p:nvPr/>
        </p:nvSpPr>
        <p:spPr>
          <a:xfrm>
            <a:off x="13881900" y="-152400"/>
            <a:ext cx="4710874" cy="1946720"/>
          </a:xfrm>
          <a:custGeom>
            <a:rect b="b" l="l" r="r" t="t"/>
            <a:pathLst>
              <a:path extrusionOk="0" h="2595626" w="6281166">
                <a:moveTo>
                  <a:pt x="0" y="0"/>
                </a:moveTo>
                <a:lnTo>
                  <a:pt x="6281166" y="0"/>
                </a:lnTo>
                <a:lnTo>
                  <a:pt x="6281166" y="2595626"/>
                </a:lnTo>
                <a:lnTo>
                  <a:pt x="0" y="25956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88198" r="0" t="0"/>
            </a:stretch>
          </a:blipFill>
          <a:ln>
            <a:noFill/>
          </a:ln>
        </p:spPr>
      </p:sp>
      <p:grpSp>
        <p:nvGrpSpPr>
          <p:cNvPr id="99" name="Google Shape;99;p13"/>
          <p:cNvGrpSpPr/>
          <p:nvPr/>
        </p:nvGrpSpPr>
        <p:grpSpPr>
          <a:xfrm>
            <a:off x="11032700" y="5475838"/>
            <a:ext cx="6650775" cy="4022408"/>
            <a:chOff x="0" y="-57150"/>
            <a:chExt cx="8867700" cy="5363210"/>
          </a:xfrm>
        </p:grpSpPr>
        <p:sp>
          <p:nvSpPr>
            <p:cNvPr id="100" name="Google Shape;100;p13"/>
            <p:cNvSpPr/>
            <p:nvPr/>
          </p:nvSpPr>
          <p:spPr>
            <a:xfrm>
              <a:off x="0" y="0"/>
              <a:ext cx="8867648" cy="5306060"/>
            </a:xfrm>
            <a:custGeom>
              <a:rect b="b" l="l" r="r" t="t"/>
              <a:pathLst>
                <a:path extrusionOk="0" h="5306060" w="8867648">
                  <a:moveTo>
                    <a:pt x="25400" y="0"/>
                  </a:moveTo>
                  <a:lnTo>
                    <a:pt x="8842248" y="0"/>
                  </a:lnTo>
                  <a:cubicBezTo>
                    <a:pt x="8856218" y="0"/>
                    <a:pt x="8867648" y="11430"/>
                    <a:pt x="8867648" y="25400"/>
                  </a:cubicBezTo>
                  <a:lnTo>
                    <a:pt x="8867648" y="5280660"/>
                  </a:lnTo>
                  <a:cubicBezTo>
                    <a:pt x="8867648" y="5294630"/>
                    <a:pt x="8856218" y="5306060"/>
                    <a:pt x="8842248" y="5306060"/>
                  </a:cubicBezTo>
                  <a:lnTo>
                    <a:pt x="25400" y="5306060"/>
                  </a:lnTo>
                  <a:cubicBezTo>
                    <a:pt x="11430" y="5306060"/>
                    <a:pt x="0" y="5294630"/>
                    <a:pt x="0" y="5280660"/>
                  </a:cubicBezTo>
                  <a:lnTo>
                    <a:pt x="0" y="25400"/>
                  </a:lnTo>
                  <a:cubicBezTo>
                    <a:pt x="0" y="11430"/>
                    <a:pt x="11430" y="0"/>
                    <a:pt x="25400" y="0"/>
                  </a:cubicBezTo>
                  <a:moveTo>
                    <a:pt x="25400" y="50800"/>
                  </a:moveTo>
                  <a:lnTo>
                    <a:pt x="25400" y="25400"/>
                  </a:lnTo>
                  <a:lnTo>
                    <a:pt x="50800" y="25400"/>
                  </a:lnTo>
                  <a:lnTo>
                    <a:pt x="50800" y="5280660"/>
                  </a:lnTo>
                  <a:lnTo>
                    <a:pt x="25400" y="5280660"/>
                  </a:lnTo>
                  <a:lnTo>
                    <a:pt x="25400" y="5255260"/>
                  </a:lnTo>
                  <a:lnTo>
                    <a:pt x="8842248" y="5255260"/>
                  </a:lnTo>
                  <a:lnTo>
                    <a:pt x="8842248" y="5280660"/>
                  </a:lnTo>
                  <a:lnTo>
                    <a:pt x="8816848" y="5280660"/>
                  </a:lnTo>
                  <a:lnTo>
                    <a:pt x="8816848" y="25400"/>
                  </a:lnTo>
                  <a:lnTo>
                    <a:pt x="8842248" y="25400"/>
                  </a:lnTo>
                  <a:lnTo>
                    <a:pt x="8842248" y="50800"/>
                  </a:lnTo>
                  <a:lnTo>
                    <a:pt x="25400" y="50800"/>
                  </a:lnTo>
                  <a:close/>
                </a:path>
              </a:pathLst>
            </a:custGeom>
            <a:solidFill>
              <a:srgbClr val="073763"/>
            </a:solidFill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0" y="-57150"/>
              <a:ext cx="8867700" cy="536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Team Name :  </a:t>
              </a:r>
              <a:r>
                <a:rPr lang="en-US" sz="2200">
                  <a:solidFill>
                    <a:srgbClr val="595959"/>
                  </a:solidFill>
                </a:rPr>
                <a:t>Prime Vision</a:t>
              </a:r>
              <a:endParaRPr/>
            </a:p>
            <a:p>
              <a:pPr indent="0" lvl="0" marL="0" marR="0" rtl="0" algn="l">
                <a:lnSpc>
                  <a:spcPct val="1755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55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55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55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55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7559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3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  Name: </a:t>
              </a:r>
              <a:r>
                <a:rPr lang="en-US" sz="2200">
                  <a:solidFill>
                    <a:srgbClr val="595959"/>
                  </a:solidFill>
                </a:rPr>
                <a:t>M.S.BALAMURUGAN</a:t>
              </a:r>
              <a:r>
                <a:rPr b="0" i="0" lang="en-US" sz="2200" u="none" cap="none" strike="noStrike">
                  <a:solidFill>
                    <a:srgbClr val="595959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endParaRPr/>
            </a:p>
          </p:txBody>
        </p:sp>
      </p:grpSp>
      <p:sp>
        <p:nvSpPr>
          <p:cNvPr id="102" name="Google Shape;102;p13"/>
          <p:cNvSpPr/>
          <p:nvPr/>
        </p:nvSpPr>
        <p:spPr>
          <a:xfrm>
            <a:off x="304800" y="304800"/>
            <a:ext cx="4286250" cy="1181100"/>
          </a:xfrm>
          <a:custGeom>
            <a:rect b="b" l="l" r="r" t="t"/>
            <a:pathLst>
              <a:path extrusionOk="0" h="1574800" w="5715000">
                <a:moveTo>
                  <a:pt x="0" y="0"/>
                </a:moveTo>
                <a:lnTo>
                  <a:pt x="5715000" y="0"/>
                </a:lnTo>
                <a:lnTo>
                  <a:pt x="57150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16" r="-116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4"/>
          <p:cNvSpPr/>
          <p:nvPr/>
        </p:nvSpPr>
        <p:spPr>
          <a:xfrm>
            <a:off x="9144000" y="-250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0" y="0"/>
                </a:moveTo>
                <a:lnTo>
                  <a:pt x="12192000" y="0"/>
                </a:lnTo>
                <a:lnTo>
                  <a:pt x="12192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EEEEE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12" name="Google Shape;112;p14"/>
          <p:cNvGrpSpPr/>
          <p:nvPr/>
        </p:nvGrpSpPr>
        <p:grpSpPr>
          <a:xfrm>
            <a:off x="531000" y="2452063"/>
            <a:ext cx="8090400" cy="2978888"/>
            <a:chOff x="0" y="-19050"/>
            <a:chExt cx="10787200" cy="3971850"/>
          </a:xfrm>
        </p:grpSpPr>
        <p:sp>
          <p:nvSpPr>
            <p:cNvPr id="113" name="Google Shape;113;p14"/>
            <p:cNvSpPr/>
            <p:nvPr/>
          </p:nvSpPr>
          <p:spPr>
            <a:xfrm>
              <a:off x="0" y="0"/>
              <a:ext cx="10787200" cy="3952800"/>
            </a:xfrm>
            <a:custGeom>
              <a:rect b="b" l="l" r="r" t="t"/>
              <a:pathLst>
                <a:path extrusionOk="0" h="3952800" w="10787200">
                  <a:moveTo>
                    <a:pt x="0" y="0"/>
                  </a:moveTo>
                  <a:lnTo>
                    <a:pt x="10787200" y="0"/>
                  </a:lnTo>
                  <a:lnTo>
                    <a:pt x="10787200" y="3952800"/>
                  </a:lnTo>
                  <a:lnTo>
                    <a:pt x="0" y="395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4" name="Google Shape;114;p14"/>
            <p:cNvSpPr txBox="1"/>
            <p:nvPr/>
          </p:nvSpPr>
          <p:spPr>
            <a:xfrm>
              <a:off x="0" y="-19050"/>
              <a:ext cx="10787200" cy="397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00" u="none" cap="none" strike="noStrike">
                  <a:solidFill>
                    <a:srgbClr val="073763"/>
                  </a:solidFill>
                  <a:latin typeface="Roboto"/>
                  <a:ea typeface="Roboto"/>
                  <a:cs typeface="Roboto"/>
                  <a:sym typeface="Roboto"/>
                </a:rPr>
                <a:t>Challenge</a:t>
              </a:r>
              <a:endParaRPr/>
            </a:p>
          </p:txBody>
        </p:sp>
      </p:grpSp>
      <p:grpSp>
        <p:nvGrpSpPr>
          <p:cNvPr id="115" name="Google Shape;115;p14"/>
          <p:cNvGrpSpPr/>
          <p:nvPr/>
        </p:nvGrpSpPr>
        <p:grpSpPr>
          <a:xfrm>
            <a:off x="9392465" y="1700131"/>
            <a:ext cx="7674000" cy="7425919"/>
            <a:chOff x="0" y="-47625"/>
            <a:chExt cx="10232000" cy="9901225"/>
          </a:xfrm>
        </p:grpSpPr>
        <p:sp>
          <p:nvSpPr>
            <p:cNvPr id="116" name="Google Shape;116;p14"/>
            <p:cNvSpPr/>
            <p:nvPr/>
          </p:nvSpPr>
          <p:spPr>
            <a:xfrm>
              <a:off x="0" y="0"/>
              <a:ext cx="10232000" cy="9853600"/>
            </a:xfrm>
            <a:custGeom>
              <a:rect b="b" l="l" r="r" t="t"/>
              <a:pathLst>
                <a:path extrusionOk="0" h="9853600" w="10232000">
                  <a:moveTo>
                    <a:pt x="0" y="0"/>
                  </a:moveTo>
                  <a:lnTo>
                    <a:pt x="10232000" y="0"/>
                  </a:lnTo>
                  <a:lnTo>
                    <a:pt x="10232000" y="9853600"/>
                  </a:lnTo>
                  <a:lnTo>
                    <a:pt x="0" y="98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17" name="Google Shape;117;p14"/>
            <p:cNvSpPr txBox="1"/>
            <p:nvPr/>
          </p:nvSpPr>
          <p:spPr>
            <a:xfrm>
              <a:off x="0" y="-47625"/>
              <a:ext cx="10232000" cy="990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507839" lvl="1" marL="1015678" marR="0" rtl="0" algn="l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1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Students repeatedly ask the same academic and campus-related questions.</a:t>
              </a:r>
              <a:endParaRPr/>
            </a:p>
            <a:p>
              <a:pPr indent="-507998" lvl="1" marL="1015996" marR="0" rtl="0" algn="l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1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Manual communication from staff causes delays.</a:t>
              </a:r>
              <a:endParaRPr/>
            </a:p>
            <a:p>
              <a:pPr indent="-507839" lvl="1" marL="1015678" marR="0" rtl="0" algn="l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1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Students have difficulty finding correct and updated information quickly.</a:t>
              </a:r>
              <a:endParaRPr/>
            </a:p>
            <a:p>
              <a:pPr indent="-507839" lvl="1" marL="1015678" marR="0" rtl="0" algn="l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1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No centralized automated answering system for common student questions.</a:t>
              </a:r>
              <a:endParaRPr/>
            </a:p>
            <a:p>
              <a:pPr indent="-507839" lvl="1" marL="1015678" marR="0" rtl="0" algn="l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1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Increased workload for office staff and faculty due to repetitive queries.</a:t>
              </a:r>
              <a:endParaRPr/>
            </a:p>
            <a:p>
              <a:pPr indent="0" lvl="0" marL="0" marR="0" rtl="0" algn="l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1" sz="24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5"/>
          <p:cNvSpPr/>
          <p:nvPr/>
        </p:nvSpPr>
        <p:spPr>
          <a:xfrm>
            <a:off x="9144000" y="-250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0" y="0"/>
                </a:moveTo>
                <a:lnTo>
                  <a:pt x="12192000" y="0"/>
                </a:lnTo>
                <a:lnTo>
                  <a:pt x="12192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EEEEE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grpSp>
        <p:nvGrpSpPr>
          <p:cNvPr id="127" name="Google Shape;127;p15"/>
          <p:cNvGrpSpPr/>
          <p:nvPr/>
        </p:nvGrpSpPr>
        <p:grpSpPr>
          <a:xfrm>
            <a:off x="531000" y="2452063"/>
            <a:ext cx="8090400" cy="2978888"/>
            <a:chOff x="0" y="-19050"/>
            <a:chExt cx="10787200" cy="3971850"/>
          </a:xfrm>
        </p:grpSpPr>
        <p:sp>
          <p:nvSpPr>
            <p:cNvPr id="128" name="Google Shape;128;p15"/>
            <p:cNvSpPr/>
            <p:nvPr/>
          </p:nvSpPr>
          <p:spPr>
            <a:xfrm>
              <a:off x="0" y="0"/>
              <a:ext cx="10787200" cy="3952800"/>
            </a:xfrm>
            <a:custGeom>
              <a:rect b="b" l="l" r="r" t="t"/>
              <a:pathLst>
                <a:path extrusionOk="0" h="3952800" w="10787200">
                  <a:moveTo>
                    <a:pt x="0" y="0"/>
                  </a:moveTo>
                  <a:lnTo>
                    <a:pt x="10787200" y="0"/>
                  </a:lnTo>
                  <a:lnTo>
                    <a:pt x="10787200" y="3952800"/>
                  </a:lnTo>
                  <a:lnTo>
                    <a:pt x="0" y="39528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29" name="Google Shape;129;p15"/>
            <p:cNvSpPr txBox="1"/>
            <p:nvPr/>
          </p:nvSpPr>
          <p:spPr>
            <a:xfrm>
              <a:off x="0" y="-19050"/>
              <a:ext cx="10787200" cy="39718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00" u="none" cap="none" strike="noStrike">
                  <a:solidFill>
                    <a:srgbClr val="073763"/>
                  </a:solidFill>
                  <a:latin typeface="Roboto"/>
                  <a:ea typeface="Roboto"/>
                  <a:cs typeface="Roboto"/>
                  <a:sym typeface="Roboto"/>
                </a:rPr>
                <a:t>Significance</a:t>
              </a:r>
              <a:endParaRPr/>
            </a:p>
          </p:txBody>
        </p:sp>
      </p:grpSp>
      <p:grpSp>
        <p:nvGrpSpPr>
          <p:cNvPr id="130" name="Google Shape;130;p15"/>
          <p:cNvGrpSpPr/>
          <p:nvPr/>
        </p:nvGrpSpPr>
        <p:grpSpPr>
          <a:xfrm>
            <a:off x="9372958" y="1700131"/>
            <a:ext cx="7674000" cy="7425919"/>
            <a:chOff x="0" y="-47625"/>
            <a:chExt cx="10232000" cy="9901225"/>
          </a:xfrm>
        </p:grpSpPr>
        <p:sp>
          <p:nvSpPr>
            <p:cNvPr id="131" name="Google Shape;131;p15"/>
            <p:cNvSpPr/>
            <p:nvPr/>
          </p:nvSpPr>
          <p:spPr>
            <a:xfrm>
              <a:off x="0" y="0"/>
              <a:ext cx="10232000" cy="9853600"/>
            </a:xfrm>
            <a:custGeom>
              <a:rect b="b" l="l" r="r" t="t"/>
              <a:pathLst>
                <a:path extrusionOk="0" h="9853600" w="10232000">
                  <a:moveTo>
                    <a:pt x="0" y="0"/>
                  </a:moveTo>
                  <a:lnTo>
                    <a:pt x="10232000" y="0"/>
                  </a:lnTo>
                  <a:lnTo>
                    <a:pt x="10232000" y="9853600"/>
                  </a:lnTo>
                  <a:lnTo>
                    <a:pt x="0" y="98536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32" name="Google Shape;132;p15"/>
            <p:cNvSpPr txBox="1"/>
            <p:nvPr/>
          </p:nvSpPr>
          <p:spPr>
            <a:xfrm>
              <a:off x="0" y="-47625"/>
              <a:ext cx="10232000" cy="99012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-507839" lvl="1" marL="1015678" marR="0" rtl="0" algn="just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lang="en-US" sz="2499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b="1" i="0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he chatbot provides instant responses 24×7, helping students save time.</a:t>
              </a:r>
              <a:endParaRPr/>
            </a:p>
            <a:p>
              <a:pPr indent="-507839" lvl="1" marL="1015678" marR="0" rtl="0" algn="just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0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Reduces manual dependency on staff, improving efficiency.</a:t>
              </a:r>
              <a:endParaRPr/>
            </a:p>
            <a:p>
              <a:pPr indent="-507839" lvl="1" marL="1015678" marR="0" rtl="0" algn="just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0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Supports smoother communication during exams, events &amp; announcements.</a:t>
              </a:r>
              <a:endParaRPr/>
            </a:p>
            <a:p>
              <a:pPr indent="-507998" lvl="1" marL="1015996" marR="0" rtl="0" algn="just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0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Beneficial for colleges with large student counts.</a:t>
              </a:r>
              <a:endParaRPr/>
            </a:p>
            <a:p>
              <a:pPr indent="-507839" lvl="1" marL="1015678" marR="0" rtl="0" algn="just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Clr>
                  <a:srgbClr val="434343"/>
                </a:buClr>
                <a:buSzPts val="2499"/>
                <a:buFont typeface="Arial"/>
                <a:buChar char="•"/>
              </a:pPr>
              <a:r>
                <a:rPr b="1" i="0" lang="en-US" sz="2499" u="none" cap="none" strike="noStrike">
                  <a:solidFill>
                    <a:srgbClr val="434343"/>
                  </a:solidFill>
                  <a:latin typeface="Roboto"/>
                  <a:ea typeface="Roboto"/>
                  <a:cs typeface="Roboto"/>
                  <a:sym typeface="Roboto"/>
                </a:rPr>
                <a:t>Helps digital transformation of educational institutions.</a:t>
              </a:r>
              <a:endParaRPr/>
            </a:p>
            <a:p>
              <a:pPr indent="0" lvl="0" marL="0" marR="0" rtl="0" algn="just">
                <a:lnSpc>
                  <a:spcPct val="13801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i="0" sz="24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9144000" y="-250"/>
            <a:ext cx="9144000" cy="10287000"/>
          </a:xfrm>
          <a:custGeom>
            <a:rect b="b" l="l" r="r" t="t"/>
            <a:pathLst>
              <a:path extrusionOk="0" h="13716000" w="12192000">
                <a:moveTo>
                  <a:pt x="0" y="0"/>
                </a:moveTo>
                <a:lnTo>
                  <a:pt x="12192000" y="0"/>
                </a:lnTo>
                <a:lnTo>
                  <a:pt x="12192000" y="13716000"/>
                </a:lnTo>
                <a:lnTo>
                  <a:pt x="0" y="13716000"/>
                </a:lnTo>
                <a:close/>
              </a:path>
            </a:pathLst>
          </a:custGeom>
          <a:solidFill>
            <a:srgbClr val="EEEEEE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6"/>
          <p:cNvSpPr txBox="1"/>
          <p:nvPr/>
        </p:nvSpPr>
        <p:spPr>
          <a:xfrm>
            <a:off x="592988" y="3464242"/>
            <a:ext cx="7891350" cy="3339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Target User</a:t>
            </a:r>
            <a:endParaRPr/>
          </a:p>
          <a:p>
            <a:pPr indent="0" lvl="0" marL="0" marR="0" rtl="0" algn="l">
              <a:lnSpc>
                <a:spcPct val="47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0" u="none" cap="none" strike="noStrike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46900" lvl="1" marL="8938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College students (UG / PG)</a:t>
            </a:r>
            <a:endParaRPr/>
          </a:p>
          <a:p>
            <a:pPr indent="-446900" lvl="1" marL="8938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College administration staff</a:t>
            </a:r>
            <a:endParaRPr/>
          </a:p>
          <a:p>
            <a:pPr indent="-446900" lvl="1" marL="8938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Department coordinators</a:t>
            </a:r>
            <a:endParaRPr/>
          </a:p>
          <a:p>
            <a:pPr indent="-446900" lvl="1" marL="8938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First-year students who need frequent guidance</a:t>
            </a:r>
            <a:endParaRPr/>
          </a:p>
          <a:p>
            <a:pPr indent="0" lvl="0" marL="0" marR="0" rtl="0" algn="l">
              <a:lnSpc>
                <a:spcPct val="1255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99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9770325" y="2940939"/>
            <a:ext cx="7891350" cy="4386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Use case</a:t>
            </a:r>
            <a:endParaRPr/>
          </a:p>
          <a:p>
            <a:pPr indent="0" lvl="0" marL="0" marR="0" rtl="0" algn="l">
              <a:lnSpc>
                <a:spcPct val="47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7000" u="none" cap="none" strike="noStrike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46900" lvl="1" marL="893800" marR="0" rtl="0" algn="just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99"/>
              <a:buFont typeface="Arial"/>
              <a:buChar char="•"/>
            </a:pPr>
            <a:r>
              <a:rPr b="0" i="0" lang="en-US" sz="2199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 student logs into the website and asks questions like:</a:t>
            </a:r>
            <a:endParaRPr/>
          </a:p>
          <a:p>
            <a:pPr indent="-426587" lvl="1" marL="853173" marR="0" rtl="0" algn="just">
              <a:lnSpc>
                <a:spcPct val="137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“What is the fees due date?”</a:t>
            </a:r>
            <a:endParaRPr/>
          </a:p>
          <a:p>
            <a:pPr indent="-426587" lvl="1" marL="853173" marR="0" rtl="0" algn="just">
              <a:lnSpc>
                <a:spcPct val="137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“Where is the exam timetable?”</a:t>
            </a:r>
            <a:endParaRPr/>
          </a:p>
          <a:p>
            <a:pPr indent="-426587" lvl="1" marL="853173" marR="0" rtl="0" algn="just">
              <a:lnSpc>
                <a:spcPct val="137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“When is the symposium?”</a:t>
            </a:r>
            <a:endParaRPr/>
          </a:p>
          <a:p>
            <a:pPr indent="-426587" lvl="1" marL="853173" marR="0" rtl="0" algn="just">
              <a:lnSpc>
                <a:spcPct val="137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Chatbot answers instantly based on college data from database.</a:t>
            </a:r>
            <a:endParaRPr/>
          </a:p>
          <a:p>
            <a:pPr indent="-426587" lvl="1" marL="853173" marR="0" rtl="0" algn="just">
              <a:lnSpc>
                <a:spcPct val="137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</a:pPr>
            <a:r>
              <a:rPr b="0" i="0" lang="en-US" sz="21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Admin can log in and add new FAQs like timetables, circulars, results etc.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3768" y="2455706"/>
            <a:ext cx="377190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14825" y="962425"/>
            <a:ext cx="1685835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Existing Solutions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/>
        </p:nvSpPr>
        <p:spPr>
          <a:xfrm>
            <a:off x="714825" y="962425"/>
            <a:ext cx="16858350" cy="9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0" u="none" cap="none" strike="noStrike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Solution Concept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714825" y="2348750"/>
            <a:ext cx="16858350" cy="22833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6898" lvl="1" marL="893797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 web-based chatbot system starting as a GK Chatbot using API.</a:t>
            </a:r>
            <a:endParaRPr/>
          </a:p>
          <a:p>
            <a:pPr indent="-446898" lvl="1" marL="893797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 button switches to College Chatbot Mode.</a:t>
            </a:r>
            <a:endParaRPr/>
          </a:p>
          <a:p>
            <a:pPr indent="-446898" lvl="1" marL="893797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User Login → Use College FAQ chatbot.</a:t>
            </a:r>
            <a:endParaRPr/>
          </a:p>
          <a:p>
            <a:pPr indent="-447038" lvl="1" marL="894076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Admin Login → Add / Edit / Delete college information.</a:t>
            </a:r>
            <a:endParaRPr/>
          </a:p>
          <a:p>
            <a:pPr indent="-447038" lvl="1" marL="894076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199"/>
              <a:buFont typeface="Arial"/>
              <a:buChar char="•"/>
            </a:pPr>
            <a:r>
              <a:rPr b="1" i="0" lang="en-US" sz="2199" u="none" cap="none" strike="noStrike">
                <a:solidFill>
                  <a:srgbClr val="434343"/>
                </a:solidFill>
                <a:latin typeface="Roboto"/>
                <a:ea typeface="Roboto"/>
                <a:cs typeface="Roboto"/>
                <a:sym typeface="Roboto"/>
              </a:rPr>
              <a:t>Simple text-only interface (No voice, No multi-language).</a:t>
            </a:r>
            <a:endParaRPr/>
          </a:p>
          <a:p>
            <a:pPr indent="-447038" lvl="1" marL="894076" marR="0" rtl="0" algn="l">
              <a:lnSpc>
                <a:spcPct val="138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199" u="none" cap="none" strike="noStrike">
              <a:solidFill>
                <a:srgbClr val="43434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oogle Shape;172;p19"/>
          <p:cNvGrpSpPr/>
          <p:nvPr/>
        </p:nvGrpSpPr>
        <p:grpSpPr>
          <a:xfrm>
            <a:off x="623400" y="2951763"/>
            <a:ext cx="17041201" cy="3187688"/>
            <a:chOff x="0" y="-19050"/>
            <a:chExt cx="22721601" cy="4250250"/>
          </a:xfrm>
        </p:grpSpPr>
        <p:sp>
          <p:nvSpPr>
            <p:cNvPr id="173" name="Google Shape;173;p19"/>
            <p:cNvSpPr/>
            <p:nvPr/>
          </p:nvSpPr>
          <p:spPr>
            <a:xfrm>
              <a:off x="0" y="0"/>
              <a:ext cx="22721601" cy="4231200"/>
            </a:xfrm>
            <a:custGeom>
              <a:rect b="b" l="l" r="r" t="t"/>
              <a:pathLst>
                <a:path extrusionOk="0" h="4231200" w="22721601">
                  <a:moveTo>
                    <a:pt x="0" y="0"/>
                  </a:moveTo>
                  <a:lnTo>
                    <a:pt x="22721601" y="0"/>
                  </a:lnTo>
                  <a:lnTo>
                    <a:pt x="22721601" y="4231200"/>
                  </a:lnTo>
                  <a:lnTo>
                    <a:pt x="0" y="4231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>
              <a:noFill/>
            </a:ln>
          </p:spPr>
        </p:sp>
        <p:sp>
          <p:nvSpPr>
            <p:cNvPr id="174" name="Google Shape;174;p19"/>
            <p:cNvSpPr txBox="1"/>
            <p:nvPr/>
          </p:nvSpPr>
          <p:spPr>
            <a:xfrm>
              <a:off x="0" y="-19050"/>
              <a:ext cx="22721600" cy="4250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7000" u="none" cap="none" strike="noStrike">
                  <a:solidFill>
                    <a:srgbClr val="073763"/>
                  </a:solidFill>
                  <a:latin typeface="Roboto"/>
                  <a:ea typeface="Roboto"/>
                  <a:cs typeface="Roboto"/>
                  <a:sym typeface="Roboto"/>
                </a:rPr>
                <a:t>Thank You</a:t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